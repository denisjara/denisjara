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con fondo animado (iris y cóclea en movimiento continuo). Presentación del tema: bases moleculares del desarrollo ocular y auditivo, genes reguladores, malformaciones y correlación clínico-laboratorial.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(15 s): se reproduce solo al entrar a la diapositiva y se repite en bucle. Un clic pasa a la siguiente diapositiva. Introducción visual: partículas que forman el ojo y la cóclea; presenta el tema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 los integrantes y de la distribución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aparecen las cuatro cifras en secuencia. OMS: al menos 2200 millones con deficiencia visual; más de 1500 millones con pérdida auditiva, 430 millones discapacitante, 34 millones de niños. La hipoacusia congénita afecta a 1–3 de cada 1000 nacidos.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general y cuatro específicos, que siguen el orden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placodas craneales y sus derivados. Clic 2: cresta neural. Ambos órganos comparten origen, lo que explica los síndromes con afectación simultánea.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(30 s): se reproduce solo al entrar a la diapositiva y se repite en bucle. Un clic pasa a la siguiente diapositiva. Neurulación: la placa neural se pliega y se cierra en tubo; la cresta neural migra hacia la región periocular y los arcos faríngeos; la región preplacodal (SIX1/EYA1) origina las placodas del cristalino (PAX6) y ótica (PAX8/PAX2).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mismas seis vías se reutilizan en ojo y oído con distintos momentos y combinaciones.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I: desarrollo y regulación molecular del ojo. Fondo animado: iris en movimiento.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clic muestra un hito. Semana 3: campo ocular único; SHH de la placa precordal lo divide. Semana 4: vesícula óptica con dominios VSX2, MITF y PAX2. Semana 5: copa óptica y vesícula del cristalino. Semana 7: cierre de la fisura coroidea. Luego, diferenciación retiniana y de párpados.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(40 s): se reproduce solo al entrar a la diapositiva y se repite en bucle. Un clic pasa a la siguiente diapositiva. Evaginación de la vesícula óptica, regionalización (VSX2, MITF, PAX2), inducción del cristalino por BMP4/FGF (acercamiento), invaginación en copa óptica, migración de la cresta neural, arteria hialoidea y diferenciación de retina, epitelio pigmentario, cristalino y nervio óptico.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aparecen las tres propiedades. PAX6 es sensible a la dosis: la haploinsuficiencia causa aniridia. La regulación cis demuestra que una secuencia codificante normal no descarta la enfermedad.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(32 s): se reproduce solo al entrar a la diapositiva y se repite en bucle. Un clic pasa a la siguiente diapositiva. PAX6 y SOX2 se unen al potenciador del gen de cristalina, la ARN polimerasa II transcribe el ARNm y el ribosoma produce cristalinas. Al final, comparación de la dosis génica: con una sola copia funcional no se alcanza el umbral (aniridia por haploinsuficiencia).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reguladores (SOX2, OTX2, PAX2) causan enfermedad dominante por haploinsuficiencia; CYP1B1 es recesivo.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II: desarrollo y regulación molecular del oído. Fondo animado: cóclea y ondas sonoras.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la onda sonora recorre el oído externo, el medio y llega a la cóclea, donde ocurre la transducción. Oído externo: ectodermo de la primera hendidura. Oído medio: endodermo de la primera bolsa y cresta neural de arcos 1 y 2. Oído interno: placoda ótica.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(42 s): se reproduce solo al entrar a la diapositiva y se repite en bucle. Un clic pasa a la siguiente diapositiva. Corte transversal: inducción de la placoda ótica por FGF3/FGF8, fosita, otocisto y neuroblastos del ganglio estatoacústico. Vista lateral: conducto endolinfático, utrículo y sáculo, formación de los conductos semicirculares por fusión de las bolsas y crecimiento del conducto coclear hasta 2,5 vueltas (acercamiento).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aparecen las células que expresan ATOH1 (células ciliadas). Clic 2: las células vecinas, inhibidas por Notch, se diferencian en células de sostén. Resultado: el patrón alternado del órgano de Corti.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(28 s): se reproduce solo al entrar a la diapositiva y se repite en bucle. Un clic pasa a la siguiente diapositiva. Simulación del epitelio prosensorial: la célula que acumula ATOH1 activa Notch en sus vecinas (HES1/HES5), que se convierten en células de sostén; emerge el mosaico del órgano de Corti.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se construye el circuito. Clic 2: el ion K⁺ recorre el ciclo de forma continua: entra en la célula ciliada, pasa por la red de células de sostén unidas por Cx26/Cx30, llega a la estría vascular y vuelve a la endolinfa. Los melanocitos de la estría (PAX3, MITF, SOX10) son necesarios para el potencial endococlear.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(34 s): se reproduce solo al entrar a la diapositiva y se repite en bucle. Un clic pasa a la siguiente diapositiva. Recorrido del K+: endolinfa → células ciliadas → células de sostén (uniones gap Cx26/Cx30) → fibrocitos → estría vascular. Luego, escenario con variante bialélica en GJB2: bloqueo de las uniones gap, acumulación de K+, caída del potencial endococlear y degeneración de las células ciliadas (DFNB1).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(38 s): se reproduce solo al entrar a la diapositiva y se repite en bucle. Un clic pasa a la siguiente diapositiva. Onda sonora en el oído externo, vibración de la membrana timpánica y de los huesecillos, onda viajera en la membrana basilar (tonotopía) y acercamiento a la célula ciliada interna: apertura de canales MET, ingreso de K+, liberación de glutamato y potenciales de acción en el nervio coclear.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secuencia ocular. Clic 2: secuencia auditiva. Entre las semanas 3 y 8 los teratógenos (rubéola, alcohol, isotretinoína, talidomida) producen malformaciones mayores.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III: malformaciones. Fondo animado: doble hélice con una variante resaltada.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las cuatro malformaciones según la etapa detenida y su implicancia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(30 s): se reproduce solo al entrar a la diapositiva y se repite en bucle. Un clic pasa a la siguiente diapositiva. Comparación lado a lado: cierre normal de la fisura coroidea frente a la persistencia de la fisura con una variante en PAX2; fenotipo final de coloboma de iris (pupila en ojo de cerradura) y asociación con hipoplasia renal.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variante intragénica de PAX6. Clic 2: deleción contigua que incluye WT1 (síndrome WAGR). Prueba indicada en casos esporádicos: microarreglo cromosómico o FISH.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GJB2 explica hasta la mitad de las hipoacusias recesivas. Los síndromes reflejan la expresión del mismo gen en oído, riñón, tiroides o cresta neural.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clics, una barra por clic: causas globales, tipo de causa genética y patrón de herencia de las no sindrómicas.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CHARGE. Clic 2: Usher (tipo 1: sordera profunda congénita; tipo 2, USH2A: moderada; tipo 3: progresiva). Otros: Stickler, Alport, Wolfram, rubéola congénita.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IV: correlación clínica y laboratorial. Fondo animado: trazados de potenciales evocados auditivos.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clics para el esquema 1-3-6 y un cuarto para la interpretación. Las EOA evalúan células ciliadas externas, no la vía neural: no detectan la neuropatía auditiva. Severidad por umbral: leve 21–40, moderada 41–70, severa 71–90, profunda &gt; 90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PCR de CMV solo confirma infección congénita en los primeros 21 días. La IgG atraviesa la placenta; la IgM no. Todo niño con sordera profunda congénita requiere ECG para medir el QTc.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resultados uno a uno (cuatro clics) y solicitar una hipótesis diagnóstica antes del quinto clic, que presenta la interpretación.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qué prueba solicitarían. En un caso esporádico debe buscarse una deleción contigua que incluya WT1. Los dos resultados posibles modifican el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genes reguladores causan enfermedad con una sola copia alterada porque el desarrollo depende de umbrales de concentración. Limitaciones: gran parte de la evidencia proviene de modelos animales.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Retina y cóclea son órganos aislados y de acceso quirúrgico, adecuados para vectores adenoasociados. Prevención: vacunación contra rubéola, medidas frente a CMV en la gestación y uso racional de aminoglucósidos.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aparecen las cinco conclusiones, una por objetivo más la implicancia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Selección de referencias; la lista completa en APA 7 con DOI está en la monografía.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y ronda de preguntas. Fondo animado continuo.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cover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38D6D0"/>
                </a:solidFill>
                <a:latin typeface="Arial"/>
              </a:rPr>
              <a:t>BIOLOGÍA MOLECULAR Y GENÉTICA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E9EEF5"/>
                </a:solidFill>
                <a:latin typeface="Arial"/>
              </a:rPr>
              <a:t>Desarrollo de la </a:t>
            </a:r>
            <a:r>
              <a:rPr sz="4400" b="1" i="0">
                <a:solidFill>
                  <a:srgbClr val="38D6D0"/>
                </a:solidFill>
                <a:latin typeface="Arial"/>
              </a:rPr>
              <a:t>visión</a:t>
            </a:r>
            <a:r>
              <a:rPr sz="4400" b="1" i="0">
                <a:solidFill>
                  <a:srgbClr val="E9EEF5"/>
                </a:solidFill>
                <a:latin typeface="Arial"/>
              </a:rPr>
              <a:t> y la </a:t>
            </a:r>
            <a:r>
              <a:rPr sz="4400" b="1" i="0">
                <a:solidFill>
                  <a:srgbClr val="F5A623"/>
                </a:solidFill>
                <a:latin typeface="Arial"/>
              </a:rPr>
              <a:t>audición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A9B8CC"/>
                </a:solidFill>
                <a:latin typeface="Arial"/>
              </a:rPr>
              <a:t>Regulación molecular y malformaciones congénitas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Docente: [Nombre del docente]  ·  [Universidad]  ·  Octubre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intr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EQUIPO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Integrantes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INFANTE ESPICHE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Angela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TERRONES SILVA</a:t>
            </a:r>
          </a:p>
          <a:p>
            <a:pPr algn="l"/>
            <a:r>
              <a:rPr sz="2200" b="1" i="0">
                <a:solidFill>
                  <a:srgbClr val="A85F00"/>
                </a:solidFill>
                <a:latin typeface="Arial"/>
              </a:rPr>
              <a:t>Claudia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GONZALES FLORES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Anderson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MENDOZA LLATAS</a:t>
            </a:r>
          </a:p>
          <a:p>
            <a:pPr algn="l"/>
            <a:r>
              <a:rPr sz="2200" b="1" i="0">
                <a:solidFill>
                  <a:srgbClr val="A85F00"/>
                </a:solidFill>
                <a:latin typeface="Arial"/>
              </a:rPr>
              <a:t>Myrella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ROJAS CORONEL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Anali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GUERRERO BARRANTES</a:t>
            </a:r>
          </a:p>
          <a:p>
            <a:pPr algn="l"/>
            <a:r>
              <a:rPr sz="2200" b="1" i="0">
                <a:solidFill>
                  <a:srgbClr val="A85F00"/>
                </a:solidFill>
                <a:latin typeface="Arial"/>
              </a:rPr>
              <a:t>Kiara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ZARATE ROJAS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Leandra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B8CC"/>
                </a:solidFill>
                <a:latin typeface="Arial"/>
              </a:rPr>
              <a:t>Monografía</a:t>
            </a:r>
          </a:p>
          <a:p>
            <a:pPr algn="l"/>
            <a:r>
              <a:rPr sz="2200" b="1" i="0">
                <a:solidFill>
                  <a:srgbClr val="38D6D0"/>
                </a:solidFill>
                <a:latin typeface="Arial"/>
              </a:rPr>
              <a:t>BMG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03  ·  Desarrollo de la visión y la audición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IMPORTANCIA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Magnitud epidemiológica de la deficiencia visual y auditiva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38D6D0"/>
                </a:solidFill>
                <a:latin typeface="Arial"/>
              </a:rPr>
              <a:t>2200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millones de personas con deficiencia visual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OMS, 2019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5A623"/>
                </a:solidFill>
                <a:latin typeface="Arial"/>
              </a:rPr>
              <a:t>1500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millones de personas con pérdida auditiva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OMS, 2021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5A623"/>
                </a:solidFill>
                <a:latin typeface="Arial"/>
              </a:rPr>
              <a:t>34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millones de niños con pérdida auditiva discapacitante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OMS,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38D6D0"/>
                </a:solidFill>
                <a:latin typeface="Arial"/>
              </a:rPr>
              <a:t>1–3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por cada 1000 recién nacidos con hipoacusia permanente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Korver et al., 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9B8CC"/>
                </a:solidFill>
                <a:latin typeface="Arial"/>
              </a:rPr>
              <a:t>Más de la mitad de las hipoacusias congénitas tiene </a:t>
            </a:r>
            <a:r>
              <a:rPr sz="1700" b="1" i="0">
                <a:solidFill>
                  <a:srgbClr val="E9EEF5"/>
                </a:solidFill>
                <a:latin typeface="Arial"/>
              </a:rPr>
              <a:t>causa genética</a:t>
            </a:r>
            <a:r>
              <a:rPr sz="1700" b="0" i="0">
                <a:solidFill>
                  <a:srgbClr val="A9B8CC"/>
                </a:solidFill>
                <a:latin typeface="Arial"/>
              </a:rPr>
              <a:t>; la catarata congénita es la principal causa </a:t>
            </a:r>
            <a:r>
              <a:rPr sz="1700" b="1" i="0">
                <a:solidFill>
                  <a:srgbClr val="E9EEF5"/>
                </a:solidFill>
                <a:latin typeface="Arial"/>
              </a:rPr>
              <a:t>tratable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de ceguera infantil.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04  ·  World Health Organization (2019, 2021); Korver et al.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5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28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MONOGRAFÍA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Objetivos del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1417320"/>
          </a:xfrm>
          <a:prstGeom prst="roundRect">
            <a:avLst>
              <a:gd name="adj" fmla="val 7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92024" bIns="192024" wrap="square"/>
          <a:lstStyle/>
          <a:p>
            <a:pPr algn="l">
              <a:spcAft>
                <a:spcPts val="600"/>
              </a:spcAft>
            </a:pPr>
            <a:r>
              <a:rPr sz="1200" b="1" i="0" spc="200">
                <a:solidFill>
                  <a:srgbClr val="38D6D0"/>
                </a:solidFill>
                <a:latin typeface="Arial"/>
              </a:rPr>
              <a:t>OBJETIVO GENERAL</a:t>
            </a:r>
          </a:p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Analizar los fundamentos moleculares del desarrollo visual y auditivo y su implicancia en las malformaciones congénitas, integrando la biología molecular con la genética.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86"/>
                </a:solidFill>
                <a:latin typeface="Arial"/>
              </a:rPr>
              <a:t>01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Describir las etapas embriológicas y sus genes reguladores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A85F00"/>
                </a:solidFill>
                <a:latin typeface="Arial"/>
              </a:rPr>
              <a:t>02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Explicar los mecanismos de regulación molecular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86"/>
                </a:solidFill>
                <a:latin typeface="Arial"/>
              </a:rPr>
              <a:t>03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Analizar las alteraciones que originan malformaciones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A85F00"/>
                </a:solidFill>
                <a:latin typeface="Arial"/>
              </a:rPr>
              <a:t>04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Correlacionar con la clínica y el laboratorio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05  ·  Desarrollo de la visión y la audición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ORIGEN EMBRIONARIO · SEMANA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Origen embrionario común: placodas y cresta neural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017520" cy="1463040"/>
          </a:xfrm>
          <a:prstGeom prst="roundRect">
            <a:avLst>
              <a:gd name="adj" fmla="val 8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9EEF5"/>
                </a:solidFill>
                <a:latin typeface="Arial"/>
              </a:rPr>
              <a:t>Placodas craneales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SIX1 · SIX4 · EYA1 · EYA2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03320" y="2468880"/>
            <a:ext cx="731520" cy="365760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92024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8D6D0"/>
                </a:solidFill>
                <a:latin typeface="Arial"/>
              </a:rPr>
              <a:t>Placoda del cristalino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PAX6 + SOX2 → cristalino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92024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A623"/>
                </a:solidFill>
                <a:latin typeface="Arial"/>
              </a:rPr>
              <a:t>Placoda ótica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PAX8 → PAX2 → oído interno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017520" cy="1463040"/>
          </a:xfrm>
          <a:prstGeom prst="roundRect">
            <a:avLst>
              <a:gd name="adj" fmla="val 8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9EEF5"/>
                </a:solidFill>
                <a:latin typeface="Arial"/>
              </a:rPr>
              <a:t>Cresta neural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Células migratorias multipotentes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4343400"/>
            <a:ext cx="731520" cy="365760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79476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8D6D0"/>
                </a:solidFill>
                <a:latin typeface="Arial"/>
              </a:rPr>
              <a:t>Segmento anterior del ojo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Córnea, iris, malla trabecular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79476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A623"/>
                </a:solidFill>
                <a:latin typeface="Arial"/>
              </a:rPr>
              <a:t>Oído medio y estría vascular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Huesecillos, melanocitos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9B8CC"/>
                </a:solidFill>
                <a:latin typeface="Arial"/>
              </a:rPr>
              <a:t>A ello se suman el </a:t>
            </a:r>
            <a:r>
              <a:rPr sz="1500" b="1" i="0">
                <a:solidFill>
                  <a:srgbClr val="E9EEF5"/>
                </a:solidFill>
                <a:latin typeface="Arial"/>
              </a:rPr>
              <a:t>neuroectodermo</a:t>
            </a:r>
            <a:r>
              <a:rPr sz="1500" b="0" i="0">
                <a:solidFill>
                  <a:srgbClr val="A9B8CC"/>
                </a:solidFill>
                <a:latin typeface="Arial"/>
              </a:rPr>
              <a:t> (retina, nervio óptico) y el </a:t>
            </a:r>
            <a:r>
              <a:rPr sz="1500" b="1" i="0">
                <a:solidFill>
                  <a:srgbClr val="E9EEF5"/>
                </a:solidFill>
                <a:latin typeface="Arial"/>
              </a:rPr>
              <a:t>mesodermo</a:t>
            </a:r>
            <a:r>
              <a:rPr sz="1500" b="0" i="0">
                <a:solidFill>
                  <a:srgbClr val="A9B8CC"/>
                </a:solidFill>
                <a:latin typeface="Arial"/>
              </a:rPr>
              <a:t> (músculos extraoculares, vasos).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06  ·  Sadler (2023); Barresi y Gilbert (2020)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5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origen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SEÑALIZACIÓN INTERCELULAR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Vías de señalización conservadas en el desarrollo ocular y auditivo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Arial"/>
              </a:rPr>
              <a:t>SHH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Divide el campo ocular; ventraliza el otocisto (cóclea)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85F00"/>
                </a:solidFill>
                <a:latin typeface="Arial"/>
              </a:rPr>
              <a:t>BMP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Induce el cristalino; retina dorsal; crestas sensoriales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Arial"/>
              </a:rPr>
              <a:t>WNT/β-catenina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Epitelio pigmentario e iris; vestíbulo dorsal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85F00"/>
                </a:solidFill>
                <a:latin typeface="Arial"/>
              </a:rPr>
              <a:t>FGF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Retina neural; inducción de la placoda ótica (FGF3/FGF8)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977639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Arial"/>
              </a:rPr>
              <a:t>Notch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Inhibición lateral: mosaico de células ciliadas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3977639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85F00"/>
                </a:solidFill>
                <a:latin typeface="Arial"/>
              </a:rPr>
              <a:t>Ácido retinoico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Copa óptica; eje anteroposterior; teratógeno en exceso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08  ·  Barresi y Gilbert (2020); Groves y Fekete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oj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38D6D0"/>
                </a:solidFill>
                <a:latin typeface="Arial"/>
              </a:rPr>
              <a:t>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E9EEF5"/>
                </a:solidFill>
                <a:latin typeface="Arial"/>
              </a:rPr>
              <a:t>El ojo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862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BFD8D5"/>
                </a:solidFill>
                <a:latin typeface="Arial"/>
              </a:rPr>
              <a:t>Embriología y regulación molecular del desarrollo ocular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EMBRIOLOGÍA DEL OJO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Etapas del desarrollo ocular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Neuroectodermo + ectodermo superficial + cresta neural + mesodermo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10789920" cy="54864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3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Campo ocular único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RAX, PAX6, SIX3; SHH lo divide en dos</a:t>
            </a:r>
          </a:p>
        </p:txBody>
      </p:sp>
      <p:sp>
        <p:nvSpPr>
          <p:cNvPr id="9" name="Oval 8"/>
          <p:cNvSpPr/>
          <p:nvPr/>
        </p:nvSpPr>
        <p:spPr>
          <a:xfrm>
            <a:off x="2852928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8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4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Vesícula óptica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VSX2 retina · MITF pigmento · PAX2 tallo</a:t>
            </a:r>
          </a:p>
        </p:txBody>
      </p:sp>
      <p:sp>
        <p:nvSpPr>
          <p:cNvPr id="11" name="Oval 10"/>
          <p:cNvSpPr/>
          <p:nvPr/>
        </p:nvSpPr>
        <p:spPr>
          <a:xfrm>
            <a:off x="5111496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65776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5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Copa óptica y cristalino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BMP4 + FGF inducen la placoda</a:t>
            </a:r>
          </a:p>
        </p:txBody>
      </p:sp>
      <p:sp>
        <p:nvSpPr>
          <p:cNvPr id="13" name="Oval 12"/>
          <p:cNvSpPr/>
          <p:nvPr/>
        </p:nvSpPr>
        <p:spPr>
          <a:xfrm>
            <a:off x="7370064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24344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7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Cierre de la fisura coroidea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PAX2, VAX; su falla causa coloboma</a:t>
            </a:r>
          </a:p>
        </p:txBody>
      </p:sp>
      <p:sp>
        <p:nvSpPr>
          <p:cNvPr id="15" name="Oval 14"/>
          <p:cNvSpPr/>
          <p:nvPr/>
        </p:nvSpPr>
        <p:spPr>
          <a:xfrm>
            <a:off x="9628632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82912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Semanas 8–28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Retina y párpados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ATOH7, CRX, NRL; Notch mantiene progenitores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10  ·  Sadler (2023); Heavner y Pevny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1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oj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GEN REGULADOR MAESTRO · 11p13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0E7C86"/>
                </a:solidFill>
                <a:latin typeface="Arial"/>
              </a:rPr>
              <a:t>PAX6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4213D"/>
                </a:solidFill>
                <a:latin typeface="Arial"/>
              </a:rPr>
              <a:t>Su expresión ectópica en </a:t>
            </a:r>
            <a:r>
              <a:rPr sz="2000" b="0" i="1">
                <a:solidFill>
                  <a:srgbClr val="14213D"/>
                </a:solidFill>
                <a:latin typeface="Arial"/>
              </a:rPr>
              <a:t>Drosophila</a:t>
            </a:r>
            <a:r>
              <a:rPr sz="2000" b="0" i="0">
                <a:solidFill>
                  <a:srgbClr val="14213D"/>
                </a:solidFill>
                <a:latin typeface="Arial"/>
              </a:rPr>
              <a:t> (</a:t>
            </a:r>
            <a:r>
              <a:rPr sz="2000" b="0" i="1">
                <a:solidFill>
                  <a:srgbClr val="14213D"/>
                </a:solidFill>
                <a:latin typeface="Arial"/>
              </a:rPr>
              <a:t>eyeless</a:t>
            </a:r>
            <a:r>
              <a:rPr sz="2000" b="0" i="0">
                <a:solidFill>
                  <a:srgbClr val="14213D"/>
                </a:solidFill>
                <a:latin typeface="Arial"/>
              </a:rPr>
              <a:t>) induce </a:t>
            </a:r>
            <a:r>
              <a:rPr sz="2000" b="1" i="0">
                <a:solidFill>
                  <a:srgbClr val="14213D"/>
                </a:solidFill>
                <a:latin typeface="Arial"/>
              </a:rPr>
              <a:t>ojos ectópicos en patas y alas</a:t>
            </a:r>
            <a:r>
              <a:rPr sz="2000" b="0" i="0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Arial"/>
              </a:rPr>
              <a:t>Factor de transcripción con dominio paired y homeodominio; actúa en el campo ocular, el cristalino, la córnea, el iris y la retina.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8D6D0"/>
                </a:solidFill>
                <a:latin typeface="Arial"/>
              </a:rPr>
              <a:t>Sensibilidad a la dosis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1 copia: aniridia · 3 copias: anomalías oculares · 0 copias: letal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8892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E7C86"/>
                </a:solidFill>
                <a:latin typeface="Arial"/>
              </a:rPr>
              <a:t>Autorregulación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4A5568"/>
                </a:solidFill>
                <a:latin typeface="Arial"/>
              </a:rPr>
              <a:t>Activa su propio promotor y a SOX2; juntos activan los genes de cristalinas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48056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E7C86"/>
                </a:solidFill>
                <a:latin typeface="Arial"/>
              </a:rPr>
              <a:t>Regulación cis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4A5568"/>
                </a:solidFill>
                <a:latin typeface="Arial"/>
              </a:rPr>
              <a:t>Deleciones de un potenciador distante (en ELP4) causan aniridia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12  ·  Shaham et al. (2012); Barresi y Gilbert (2020)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pax6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CORRELACIÓN GENOTIPO–FENOTIPO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Genes reguladores del desarrollo ocular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39" cy="30723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991563"/>
                <a:gridCol w="4536338"/>
                <a:gridCol w="453633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Gen</a:t>
                      </a:r>
                    </a:p>
                  </a:txBody>
                  <a:tcPr marL="109728" marR="109728" marT="45720" marB="45720">
                    <a:solidFill>
                      <a:srgbClr val="2A4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Función en el desarrollo</a:t>
                      </a:r>
                    </a:p>
                  </a:txBody>
                  <a:tcPr marL="109728" marR="109728" marT="45720" marB="45720">
                    <a:solidFill>
                      <a:srgbClr val="2A4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Fenotipo por alteración</a:t>
                      </a:r>
                    </a:p>
                  </a:txBody>
                  <a:tcPr marL="109728" marR="109728" marT="45720" marB="45720">
                    <a:solidFill>
                      <a:srgbClr val="2A406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SOX2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Competencia del cristalino; progenitores retinianos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Anoftalmía/microftalmía bilateral (10–20 %)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OTX2 · RAX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Campo ocular; epitelio pigmentario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Anoftalmía / microftalmía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SHH · SIX3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División del campo ocular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Holoprosencefalia, ciclopía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PAX2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Tallo óptico; cierre de la fisura coroidea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Coloboma + hipoplasia renal (papilorrenal)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PITX2 · FOXC1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Migración de la cresta neural periocular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Anomalía de Axenfeld-Rieger, glaucoma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CYP1B1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Desarrollo de la malla trabecular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Glaucoma congénito primario (AR)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CRYAA · GJA8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Transparencia del cristalino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Catarata congénita (AD)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14  ·  Williamson y FitzPatrick (2014); Shiels y Hejtmancik (2017) · AR: autosómica recesiva · AD: autosómica dominante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oid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F5A623"/>
                </a:solidFill>
                <a:latin typeface="Arial"/>
              </a:rPr>
              <a:t>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E9EEF5"/>
                </a:solidFill>
                <a:latin typeface="Arial"/>
              </a:rPr>
              <a:t>El oído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862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8D3B0"/>
                </a:solidFill>
                <a:latin typeface="Arial"/>
              </a:rPr>
              <a:t>Embriología y regulación molecular del desarrollo auditivo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A85F00"/>
                </a:solidFill>
                <a:latin typeface="Arial"/>
              </a:rPr>
              <a:t>EMBRIOLOGÍA DEL OÍDO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Origen embrionario del oído externo, medio e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200" b="1" i="0" spc="200">
                <a:solidFill>
                  <a:srgbClr val="A85F00"/>
                </a:solidFill>
                <a:latin typeface="Arial"/>
              </a:rPr>
              <a:t>OÍDO EXTERNO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1.ª hendidura faríngea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Seis prominencias auriculares; el tapón meatal se canaliza al 7.º 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78308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200" b="1" i="0" spc="200">
                <a:solidFill>
                  <a:srgbClr val="A85F00"/>
                </a:solidFill>
                <a:latin typeface="Arial"/>
              </a:rPr>
              <a:t>OÍDO MEDIO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1.ª bolsa + arcos 1 y 2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Martillo y yunque (Meckel), estribo (Reichert), trompa auditiva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78308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200" b="1" i="0" spc="200">
                <a:solidFill>
                  <a:srgbClr val="F5A623"/>
                </a:solidFill>
                <a:latin typeface="Arial"/>
              </a:rPr>
              <a:t>OÍDO INTERNO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Placoda ótica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Otocisto (semana 4) → cóclea de 2,5 vueltas (semana 8) y vestíbulo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4A5568"/>
                </a:solidFill>
                <a:latin typeface="Arial"/>
              </a:rPr>
              <a:t>VÍA DE CONDUCCIÓN DEL SONIDO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500" b="1" i="0">
                <a:solidFill>
                  <a:srgbClr val="14213D"/>
                </a:solidFill>
                <a:latin typeface="Arial"/>
              </a:rPr>
              <a:t>Pabellón y conducto auditivo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58768" y="4636008"/>
            <a:ext cx="365760" cy="27432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438912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500" b="1" i="0">
                <a:solidFill>
                  <a:srgbClr val="14213D"/>
                </a:solidFill>
                <a:latin typeface="Arial"/>
              </a:rPr>
              <a:t>Membrana timpánica y huesecillos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07808" y="4636008"/>
            <a:ext cx="365760" cy="27432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438912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500" b="1" i="0">
                <a:solidFill>
                  <a:srgbClr val="14213D"/>
                </a:solidFill>
                <a:latin typeface="Arial"/>
              </a:rPr>
              <a:t>Cóclea · órgano de Corti</a:t>
            </a:r>
          </a:p>
        </p:txBody>
      </p:sp>
      <p:sp>
        <p:nvSpPr>
          <p:cNvPr id="14" name="onda"/>
          <p:cNvSpPr/>
          <p:nvPr/>
        </p:nvSpPr>
        <p:spPr>
          <a:xfrm>
            <a:off x="685800" y="5413248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440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85F00"/>
                </a:solidFill>
                <a:latin typeface="Arial"/>
              </a:rPr>
              <a:t>Onda sonora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4406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5F00"/>
                </a:solidFill>
                <a:latin typeface="Arial"/>
              </a:rPr>
              <a:t>Transducción mecanoeléctrica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La implantación baja del pabellón se asocia a cromosomopatías y a síndromes de arcos faríngeos.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16  ·  Moore et al. (2020); Sadler (2023)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 0 L 0.611 0 E" pathEditMode="relative" ptsTypes="">
                                      <p:cBhvr>
                                        <p:cTn id="15" dur="3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24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4" grpId="0" animBg="1"/>
      <p:bldP spid="15" grpId="0" animBg="1"/>
      <p:bldP spid="14" grpId="1" animBg="1"/>
      <p:bldP spid="16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oid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REGULACIÓN DEL OÍDO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Inhibición lateral mediada por Notch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7451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FGF3/FGF8 inducen la placoda; PAX8 → PAX2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7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7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WNT dorsal: vestíbulo · SHH ventral: cóclea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3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2043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SOX2 + EYA1/SIX1 activan ATOH1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434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La célula ATOH1+ expresa Delta-like 1 y Jagged 2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663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Las vecinas activan Notch → HES1/HES5 y se diferencian en células de sostén</a:t>
            </a:r>
          </a:p>
        </p:txBody>
      </p:sp>
      <p:sp>
        <p:nvSpPr>
          <p:cNvPr id="15" name="Hexagon 14"/>
          <p:cNvSpPr/>
          <p:nvPr/>
        </p:nvSpPr>
        <p:spPr>
          <a:xfrm>
            <a:off x="64922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71780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78638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85496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2354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9212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106070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68351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75209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82067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88925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95783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2641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9499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64922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71780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78638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85496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92354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99212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6070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68351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75209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82067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88925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95783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2641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2" name="Hexagon 41"/>
          <p:cNvSpPr/>
          <p:nvPr/>
        </p:nvSpPr>
        <p:spPr>
          <a:xfrm>
            <a:off x="109499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3" name="Hexagon 42"/>
          <p:cNvSpPr/>
          <p:nvPr/>
        </p:nvSpPr>
        <p:spPr>
          <a:xfrm>
            <a:off x="64922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4" name="Hexagon 43"/>
          <p:cNvSpPr/>
          <p:nvPr/>
        </p:nvSpPr>
        <p:spPr>
          <a:xfrm>
            <a:off x="71780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>
            <a:off x="78638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6" name="Hexagon 45"/>
          <p:cNvSpPr/>
          <p:nvPr/>
        </p:nvSpPr>
        <p:spPr>
          <a:xfrm>
            <a:off x="85496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7" name="Hexagon 46"/>
          <p:cNvSpPr/>
          <p:nvPr/>
        </p:nvSpPr>
        <p:spPr>
          <a:xfrm>
            <a:off x="92354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99212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9" name="Hexagon 48"/>
          <p:cNvSpPr/>
          <p:nvPr/>
        </p:nvSpPr>
        <p:spPr>
          <a:xfrm>
            <a:off x="106070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68351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1" name="Hexagon 50"/>
          <p:cNvSpPr/>
          <p:nvPr/>
        </p:nvSpPr>
        <p:spPr>
          <a:xfrm>
            <a:off x="75209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82067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3" name="Hexagon 52"/>
          <p:cNvSpPr/>
          <p:nvPr/>
        </p:nvSpPr>
        <p:spPr>
          <a:xfrm>
            <a:off x="88925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4" name="Hexagon 53"/>
          <p:cNvSpPr/>
          <p:nvPr/>
        </p:nvSpPr>
        <p:spPr>
          <a:xfrm>
            <a:off x="95783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5" name="Hexagon 54"/>
          <p:cNvSpPr/>
          <p:nvPr/>
        </p:nvSpPr>
        <p:spPr>
          <a:xfrm>
            <a:off x="102641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6" name="Hexagon 55"/>
          <p:cNvSpPr/>
          <p:nvPr/>
        </p:nvSpPr>
        <p:spPr>
          <a:xfrm>
            <a:off x="109499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715000"/>
            <a:ext cx="228600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56692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EEF5"/>
                </a:solidFill>
                <a:latin typeface="Arial"/>
              </a:rPr>
              <a:t>Célula ciliada (ATOH1+)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5715000"/>
            <a:ext cx="228600" cy="228600"/>
          </a:xfrm>
          <a:prstGeom prst="rect">
            <a:avLst/>
          </a:prstGeom>
          <a:solidFill>
            <a:srgbClr val="38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5669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EEF5"/>
                </a:solidFill>
                <a:latin typeface="Arial"/>
              </a:rPr>
              <a:t>Célula de sostén (HES+)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18  ·  Esquema del órgano de Corti en vista superior · Wu y Kelley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7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5" grpId="0" animBg="1"/>
      <p:bldP spid="18" grpId="0" animBg="1"/>
      <p:bldP spid="21" grpId="0" animBg="1"/>
      <p:bldP spid="24" grpId="0" animBg="1"/>
      <p:bldP spid="27" grpId="0" animBg="1"/>
      <p:bldP spid="31" grpId="0" animBg="1"/>
      <p:bldP spid="34" grpId="0" animBg="1"/>
      <p:bldP spid="37" grpId="0" animBg="1"/>
      <p:bldP spid="40" grpId="0" animBg="1"/>
      <p:bldP spid="44" grpId="0" animBg="1"/>
      <p:bldP spid="47" grpId="0" animBg="1"/>
      <p:bldP spid="50" grpId="0" animBg="1"/>
      <p:bldP spid="53" grpId="0" animBg="1"/>
      <p:bldP spid="56" grpId="0" animBg="1"/>
      <p:bldP spid="57" grpId="0" animBg="1"/>
      <p:bldP spid="58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8" grpId="0" animBg="1"/>
      <p:bldP spid="49" grpId="0" animBg="1"/>
      <p:bldP spid="51" grpId="0" animBg="1"/>
      <p:bldP spid="52" grpId="0" animBg="1"/>
      <p:bldP spid="54" grpId="0" animBg="1"/>
      <p:bldP spid="55" grpId="0" animBg="1"/>
      <p:bldP spid="59" grpId="0" animBg="1"/>
      <p:bldP spid="60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notc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A85F00"/>
                </a:solidFill>
                <a:latin typeface="Arial"/>
              </a:rPr>
              <a:t>MADURACIÓN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Reciclaje de potasio en la cóclea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La endolinfa mantiene un potencial de </a:t>
            </a:r>
            <a:r>
              <a:rPr sz="1700" b="1" i="0">
                <a:solidFill>
                  <a:srgbClr val="14213D"/>
                </a:solidFill>
                <a:latin typeface="Arial"/>
              </a:rPr>
              <a:t>+80 mV</a:t>
            </a:r>
            <a:r>
              <a:rPr sz="1700" b="0" i="0">
                <a:solidFill>
                  <a:srgbClr val="4A5568"/>
                </a:solidFill>
                <a:latin typeface="Arial"/>
              </a:rPr>
              <a:t> y alta concentración de K⁺.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Las uniones gap de </a:t>
            </a:r>
            <a:r>
              <a:rPr sz="1700" b="1" i="0">
                <a:solidFill>
                  <a:srgbClr val="14213D"/>
                </a:solidFill>
                <a:latin typeface="Arial"/>
              </a:rPr>
              <a:t>conexina 26</a:t>
            </a:r>
            <a:r>
              <a:rPr sz="1700" b="0" i="0">
                <a:solidFill>
                  <a:srgbClr val="4A5568"/>
                </a:solidFill>
                <a:latin typeface="Arial"/>
              </a:rPr>
              <a:t> (GJB2) y 30 (GJB6) reciclan el K⁺ hacia la estría vascular.</a:t>
            </a:r>
          </a:p>
          <a:p>
            <a:pPr algn="l"/>
            <a:r>
              <a:rPr sz="1700" b="0" i="0">
                <a:solidFill>
                  <a:srgbClr val="4A5568"/>
                </a:solidFill>
                <a:latin typeface="Arial"/>
              </a:rPr>
              <a:t>La pérdida de Cx26 produce acumulación de K⁺ y </a:t>
            </a:r>
            <a:r>
              <a:rPr sz="1700" b="1" i="0">
                <a:solidFill>
                  <a:srgbClr val="14213D"/>
                </a:solidFill>
                <a:latin typeface="Arial"/>
              </a:rPr>
              <a:t>degeneración de las células ciliadas</a:t>
            </a:r>
            <a:r>
              <a:rPr sz="1700" b="0" i="0">
                <a:solidFill>
                  <a:srgbClr val="4A5568"/>
                </a:solidFill>
                <a:latin typeface="Arial"/>
              </a:rPr>
              <a:t>; GJB2 es la causa genética más frecuente de hipoacusia no sindrómica.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A623"/>
                </a:solidFill>
                <a:latin typeface="Arial"/>
              </a:rPr>
              <a:t>Endolinfa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A9B8CC"/>
                </a:solidFill>
                <a:latin typeface="Arial"/>
              </a:rPr>
              <a:t>K⁺ alto · potencial endococlear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Arial"/>
              </a:rPr>
              <a:t>Célula ciliada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4A5568"/>
                </a:solidFill>
                <a:latin typeface="Arial"/>
              </a:rPr>
              <a:t>Ingreso de K⁺ durante la transducción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251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Arial"/>
              </a:rPr>
              <a:t>Células de sostén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4A5568"/>
                </a:solidFill>
                <a:latin typeface="Arial"/>
              </a:rPr>
              <a:t>Red de uniones gap Cx26 / Cx30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251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Arial"/>
              </a:rPr>
              <a:t>Estría vascular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4A5568"/>
                </a:solidFill>
                <a:latin typeface="Arial"/>
              </a:rPr>
              <a:t>KCNQ1/KCNE1 · melanocitos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21040" y="2331720"/>
            <a:ext cx="822960" cy="365760"/>
          </a:xfrm>
          <a:prstGeom prst="right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0241280" y="3291840"/>
            <a:ext cx="365760" cy="868680"/>
          </a:xfrm>
          <a:prstGeom prst="down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2" name="Left Arrow 11"/>
          <p:cNvSpPr/>
          <p:nvPr/>
        </p:nvSpPr>
        <p:spPr>
          <a:xfrm>
            <a:off x="8321040" y="4754880"/>
            <a:ext cx="822960" cy="365760"/>
          </a:xfrm>
          <a:prstGeom prst="left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3" name="Up Arrow 12"/>
          <p:cNvSpPr/>
          <p:nvPr/>
        </p:nvSpPr>
        <p:spPr>
          <a:xfrm>
            <a:off x="6858000" y="3291840"/>
            <a:ext cx="365760" cy="868680"/>
          </a:xfrm>
          <a:prstGeom prst="up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94776" y="2276856"/>
            <a:ext cx="475488" cy="47548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0B1526"/>
                </a:solidFill>
                <a:latin typeface="Arial"/>
              </a:rPr>
              <a:t>K⁺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20  ·  Korver et al.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9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"/>
                            </p:stCondLst>
                            <p:childTnLst>
                              <p:par>
                                <p:cTn id="44" presetID="0" presetClass="pat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88 0.1733 L 0 0.3467 L -0.1388 0.1733 L 0 0 E" pathEditMode="relative" ptsTypes="">
                                      <p:cBhvr>
                                        <p:cTn id="45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50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6" grpId="0" animBg="1"/>
      <p:bldP spid="10" grpId="0" animBg="1"/>
      <p:bldP spid="7" grpId="0" animBg="1"/>
      <p:bldP spid="11" grpId="0" animBg="1"/>
      <p:bldP spid="8" grpId="0" animBg="1"/>
      <p:bldP spid="12" grpId="0" animBg="1"/>
      <p:bldP spid="9" grpId="0" animBg="1"/>
      <p:bldP spid="13" grpId="0" animBg="1"/>
      <p:bldP spid="14" grpId="0" animBg="1"/>
      <p:bldP spid="14" grpId="1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potasi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sonid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EMBRIOLOGÍA COMPARADA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Cronología del desarrollo y periodo de susceptibilidad teratogénica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Semana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13632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5584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5–7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8–10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9488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E9EEF5"/>
                </a:solidFill>
                <a:latin typeface="Arial"/>
              </a:rPr>
              <a:t>12–28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371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38D6D0"/>
                </a:solidFill>
                <a:latin typeface="Arial"/>
              </a:rPr>
              <a:t>Ojo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Campo ocular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3632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Vesícula óptica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5584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Copa, cristalino, fisura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Córnea, párpados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9488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Capas de la retina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371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Arial"/>
              </a:rPr>
              <a:t>Oído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Placoda ótica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Otocisto, ganglio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Cóclea, canales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17536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2,5 vueltas, huesecillos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9488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Órgano de Corti, osificación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Semanas en ámbar: periodo embrionario. La exposición a teratógenos en esta etapa produce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malformaciones estructurales</a:t>
            </a:r>
            <a:r>
              <a:rPr sz="1600" b="0" i="0">
                <a:solidFill>
                  <a:srgbClr val="A9B8CC"/>
                </a:solidFill>
                <a:latin typeface="Arial"/>
              </a:rPr>
              <a:t>; en el periodo fetal predominan los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defectos funcionales</a:t>
            </a:r>
            <a:r>
              <a:rPr sz="1600" b="0" i="0">
                <a:solidFill>
                  <a:srgbClr val="A9B8CC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23  ·  Moore et al. (2020); Carlson (2019)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9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malf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F5A623"/>
                </a:solidFill>
                <a:latin typeface="Arial"/>
              </a:rPr>
              <a:t>PARTE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E9EEF5"/>
                </a:solidFill>
                <a:latin typeface="Arial"/>
              </a:rPr>
              <a:t>Malformaciones congénitas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A9B8CC"/>
                </a:solidFill>
                <a:latin typeface="Arial"/>
              </a:rPr>
              <a:t>Variantes patogénicas, alteraciones de la dosis génica y agentes teratógenos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MALFORMACIONES VISUALES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Malformaciones oculares según la etapa afectada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Campo / vesícula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Anoftalmía y microftalmía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SOX2, OTX2, RAX · 1–3 por 10 000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Fisura coroidea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Coloboma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Pupila en «ojo de cerradura» · PAX2, CHD7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Cristalino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Catarata congénita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Cristalinas, conexinas, rubéola, galactosemia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Línea media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Holoprosencefalia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Alteración de SHH → ciclopía · SHH, SIX3, ZIC2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10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92024" bIns="192024" wrap="square"/>
          <a:lstStyle/>
          <a:p>
            <a:pPr algn="l"/>
            <a:r>
              <a:rPr sz="1600" b="1" i="0">
                <a:solidFill>
                  <a:srgbClr val="38D6D0"/>
                </a:solidFill>
                <a:latin typeface="Arial"/>
              </a:rPr>
              <a:t>Implicancia clínica: </a:t>
            </a:r>
            <a:r>
              <a:rPr sz="1600" b="0" i="0">
                <a:solidFill>
                  <a:srgbClr val="E9EEF5"/>
                </a:solidFill>
                <a:latin typeface="Arial"/>
              </a:rPr>
              <a:t>la catarata congénita densa requiere cirugía temprana; la privación visual durante el periodo crítico produce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ambliopía irreversible</a:t>
            </a:r>
            <a:r>
              <a:rPr sz="1600" b="0" i="0">
                <a:solidFill>
                  <a:srgbClr val="E9EEF5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25  ·  Williamson y FitzPatrick (2014); Lingam et al. (2021); Shiels y Hejtmancik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2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deo v_coloboma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ANIRIDIA · REGIÓN CROMOSÓMICA 11P13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Variante en PAX6 frente a deleción contigua 11p13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594360"/>
          </a:xfrm>
          <a:prstGeom prst="roundRect">
            <a:avLst>
              <a:gd name="adj" fmla="val 50000"/>
            </a:avLst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2606040"/>
            <a:ext cx="274320" cy="594360"/>
          </a:xfrm>
          <a:prstGeom prst="rect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94960" y="2606040"/>
            <a:ext cx="274320" cy="594360"/>
          </a:xfrm>
          <a:prstGeom prst="rect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2606040"/>
            <a:ext cx="411480" cy="594360"/>
          </a:xfrm>
          <a:prstGeom prst="rect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2606040"/>
            <a:ext cx="320040" cy="5943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291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Arial"/>
              </a:rPr>
              <a:t>Centrómero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606040"/>
            <a:ext cx="548640" cy="594360"/>
          </a:xfrm>
          <a:prstGeom prst="rect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606040"/>
            <a:ext cx="548640" cy="5943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2918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A85F00"/>
                </a:solidFill>
                <a:latin typeface="Arial"/>
              </a:rPr>
              <a:t>WT1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918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7C86"/>
                </a:solidFill>
                <a:latin typeface="Arial"/>
              </a:rPr>
              <a:t>PAX6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2423160"/>
            <a:ext cx="2606040" cy="96012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A85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011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5F00"/>
                </a:solidFill>
                <a:latin typeface="Arial"/>
              </a:rPr>
              <a:t>Deleción 11p13 (WAGR)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846320" y="1874519"/>
            <a:ext cx="365760" cy="640080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E7C86"/>
                </a:solidFill>
                <a:latin typeface="Arial"/>
              </a:rPr>
              <a:t>Variante en PAX6 (≈ 90 %)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Codón de terminación prematuro → degradación del ARNm (NMD) → haploinsuficiencia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Herencia AD · riesgo de 50 % para la descendencia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5A623"/>
                </a:solidFill>
                <a:latin typeface="Arial"/>
              </a:rPr>
              <a:t>Deleción contigua PAX6 + WT1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Tumor de Wilms · Aniridia · anomalías Genitourinarias · Retraso del desarrollo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≈ 50 % de riesgo de tumor de Wilms: ecografía renal periódica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27  ·  Esquema no a escala · Lee et al. (2008); Shaham et al.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2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7" grpId="0" animBg="1"/>
      <p:bldP spid="18" grpId="0" animBg="1"/>
      <p:bldP spid="15" grpId="0" animBg="1"/>
      <p:bldP spid="16" grpId="0" animBg="1"/>
      <p:bldP spid="1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MALFORMACIONES AUDITIVAS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Hipoacusias genéticas: principales entidades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38" cy="30723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655417"/>
                <a:gridCol w="2655417"/>
                <a:gridCol w="575340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Entidad</a:t>
                      </a:r>
                    </a:p>
                  </a:txBody>
                  <a:tcPr marL="109728" marR="109728" marT="45720" marB="45720">
                    <a:solidFill>
                      <a:srgbClr val="3A25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Gen</a:t>
                      </a:r>
                    </a:p>
                  </a:txBody>
                  <a:tcPr marL="109728" marR="109728" marT="45720" marB="45720">
                    <a:solidFill>
                      <a:srgbClr val="3A25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Hallazgo clave</a:t>
                      </a:r>
                    </a:p>
                  </a:txBody>
                  <a:tcPr marL="109728" marR="109728" marT="45720" marB="45720">
                    <a:solidFill>
                      <a:srgbClr val="3A250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DFNB1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GJB2 (conexina 26)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Hipoacusia aislada AR; c.35delG; cóclea normal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Síndrome de Pendred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SLC26A4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Hipoacusia + bocio; acueducto vestibular dilatado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Branquio-oto-renal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EYA1 · SIX1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Fositas preauriculares, fístulas cervicales, hipoplasia renal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Síndrome de Waardenburg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PAX3 · MITF · SOX10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Heterocromía, mechón blanco, hipoacusia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Treacher Collins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TCOF1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Apoptosis de cresta neural (p53): microtia, hipoacusia conductiva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Neuropatía auditiva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OTOF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EOA presentes, PEATC ausentes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Ototoxicidad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MT-RNR1 m.1555A&gt;G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Aminoglucósidos → hipoacusia; herencia materna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28  ·  Shearer et al. (2017); Korver et al. (2017); Wu y Kelley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A85F00"/>
                </a:solidFill>
                <a:latin typeface="Arial"/>
              </a:rPr>
              <a:t>EPIDEMIOLOGÍA GENÉTICA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Etiología de la hipoacusia congénita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Arial"/>
              </a:rPr>
              <a:t>Todas las causas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085332" cy="685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0B1526"/>
                </a:solidFill>
                <a:latin typeface="Arial"/>
              </a:rPr>
              <a:t>Genética ≈ 55 %</a:t>
            </a:r>
          </a:p>
        </p:txBody>
      </p:sp>
      <p:sp>
        <p:nvSpPr>
          <p:cNvPr id="7" name="Rectangle 6"/>
          <p:cNvSpPr/>
          <p:nvPr/>
        </p:nvSpPr>
        <p:spPr>
          <a:xfrm>
            <a:off x="6633972" y="2194560"/>
            <a:ext cx="2766060" cy="685800"/>
          </a:xfrm>
          <a:prstGeom prst="rect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0B1526"/>
                </a:solidFill>
                <a:latin typeface="Arial"/>
              </a:rPr>
              <a:t>Ambiental 25 %</a:t>
            </a:r>
          </a:p>
        </p:txBody>
      </p:sp>
      <p:sp>
        <p:nvSpPr>
          <p:cNvPr id="8" name="Rectangle 7"/>
          <p:cNvSpPr/>
          <p:nvPr/>
        </p:nvSpPr>
        <p:spPr>
          <a:xfrm>
            <a:off x="9400032" y="2194560"/>
            <a:ext cx="2212848" cy="685800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E9EEF5"/>
                </a:solidFill>
                <a:latin typeface="Arial"/>
              </a:rPr>
              <a:t>No precisada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Arial"/>
              </a:rPr>
              <a:t>Causas genéticas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7744968" cy="685800"/>
          </a:xfrm>
          <a:prstGeom prst="rect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No sindrómica 70 %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3608" y="3520440"/>
            <a:ext cx="3319272" cy="685800"/>
          </a:xfrm>
          <a:prstGeom prst="rect">
            <a:avLst/>
          </a:prstGeom>
          <a:solidFill>
            <a:srgbClr val="E8C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0B1526"/>
                </a:solidFill>
                <a:latin typeface="Arial"/>
              </a:rPr>
              <a:t>Sindrómica 30 %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Arial"/>
              </a:rPr>
              <a:t>No sindrómicas · herencia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19"/>
            <a:ext cx="8630107" cy="685800"/>
          </a:xfrm>
          <a:prstGeom prst="rect">
            <a:avLst/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E9EEF5"/>
                </a:solidFill>
                <a:latin typeface="Arial"/>
              </a:rPr>
              <a:t>Autosómica recesiva ≈ 78 % · principal gen: GJB2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8747" y="4846319"/>
            <a:ext cx="2212848" cy="685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AD 20 %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91595" y="4846319"/>
            <a:ext cx="221284" cy="685800"/>
          </a:xfrm>
          <a:prstGeom prst="rect">
            <a:avLst/>
          </a:prstGeom>
          <a:solidFill>
            <a:srgbClr val="9F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Ligada al X y mitocondrial: ≈ 2 %  ·  Entre las causas ambientales, el CMV congénito es la principal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29  ·  Proporciones aproximadas · Korver et al. (2017); Shearer et al.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2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COMPROMISO SENSORIAL 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Síndromes con compromiso visual y auditivo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 w="19050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92608" rIns="292608" tIns="204825" bIns="204825" wrap="square"/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38D6D0"/>
                </a:solidFill>
                <a:latin typeface="Arial"/>
              </a:rPr>
              <a:t>CHARGE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9EEF5"/>
                </a:solidFill>
                <a:latin typeface="Arial"/>
              </a:rPr>
              <a:t>CHD7</a:t>
            </a:r>
            <a:r>
              <a:rPr sz="1600" b="0" i="0">
                <a:solidFill>
                  <a:srgbClr val="A9B8CC"/>
                </a:solidFill>
                <a:latin typeface="Arial"/>
              </a:rPr>
              <a:t> · remodelador de cromatina · &gt; 90 % de novo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Coloboma · cardiopatía · atresia de coanas · retraso · anomalías genitales y del oído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Hallazgo característico: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aplasia de canales semicirculares</a:t>
            </a:r>
            <a:r>
              <a:rPr sz="1600" b="0" i="0">
                <a:solidFill>
                  <a:srgbClr val="A9B8CC"/>
                </a:solidFill>
                <a:latin typeface="Arial"/>
              </a:rPr>
              <a:t> en TC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92608" rIns="292608" tIns="204825" bIns="204825" wrap="square"/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5A623"/>
                </a:solidFill>
                <a:latin typeface="Arial"/>
              </a:rPr>
              <a:t>Usher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9EEF5"/>
                </a:solidFill>
                <a:latin typeface="Arial"/>
              </a:rPr>
              <a:t>MYO7A, CDH23, USH2A</a:t>
            </a:r>
            <a:r>
              <a:rPr sz="1600" b="0" i="0">
                <a:solidFill>
                  <a:srgbClr val="A9B8CC"/>
                </a:solidFill>
                <a:latin typeface="Arial"/>
              </a:rPr>
              <a:t> · AR · principal causa genética de sordoceguera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Hipoacusia neurosensorial + retinosis pigmentaria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Proteínas compartidas por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estereocilios y fotorreceptores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30  ·  Hsu et al. (2014); Nussbaum et al. (2016)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ab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38D6D0"/>
                </a:solidFill>
                <a:latin typeface="Arial"/>
              </a:rPr>
              <a:t>PARTE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E9EEF5"/>
                </a:solidFill>
                <a:latin typeface="Arial"/>
              </a:rPr>
              <a:t>Correlación clínica y laboratorial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A9B8CC"/>
                </a:solidFill>
                <a:latin typeface="Arial"/>
              </a:rPr>
              <a:t>Tamizaje neonatal, estudios serológicos, metabólicos y genéticos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TAMIZAJE AUDITIVO NEONATAL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Esquema 1-3-6 e interpretación de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F5A623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19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mes · tamizaje con EOA o PEATC automatizado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F5A623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718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meses · confirmación diagnóstica con PEATC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79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F5A623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069079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meses · intervención: audífono o implante coclear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6D0"/>
                </a:solidFill>
                <a:latin typeface="Arial"/>
              </a:rPr>
              <a:t>Visión: </a:t>
            </a:r>
            <a:r>
              <a:rPr sz="1500" b="0" i="0">
                <a:solidFill>
                  <a:srgbClr val="A9B8CC"/>
                </a:solidFill>
                <a:latin typeface="Arial"/>
              </a:rPr>
              <a:t>prueba del reflejo rojo a todo recién nacido; la leucocoria requiere derivación urgente.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EOA y PEATC presentes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Audición normal; vigilar CMV y antecedentes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4612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A623"/>
                </a:solidFill>
                <a:latin typeface="Arial"/>
              </a:rPr>
              <a:t>EOA y PEATC ausentes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Hipoacusia coclear o conductiva → timpanometría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61772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9EEF5"/>
                </a:solidFill>
                <a:latin typeface="Arial"/>
              </a:rPr>
              <a:t>EOA presentes · PEATC ausentes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Neuropatía auditiva: sospechar OTOF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32  ·  Morton y Nance (2006); Lieu et al. (2020)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53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PARÁMETROS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Parámetros de laboratorio e interpretación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39" cy="38404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97987"/>
                <a:gridCol w="2987344"/>
                <a:gridCol w="49789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D6D0"/>
                          </a:solidFill>
                          <a:latin typeface="Arial"/>
                        </a:rPr>
                        <a:t>Prueba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D6D0"/>
                          </a:solidFill>
                          <a:latin typeface="Arial"/>
                        </a:rPr>
                        <a:t>Hallazgo patológico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D6D0"/>
                          </a:solidFill>
                          <a:latin typeface="Arial"/>
                        </a:rPr>
                        <a:t>Interpretación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PCR de CMV (orina/saliva)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Positiva en ≤ 21 días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Infección congénita; seguimiento audiológico seriado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IgM específica (TORCH)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Positiva en el neonato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Infección fetal; la IgG aislada puede ser materna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Avidez de IgG (gestante)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Baja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Infección primaria reciente (&lt; 3–4 meses)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GALT eritrocitaria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Ausente o muy baja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Galactosemia: catarata; falso normal tras transfusión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TSH / T4 libre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TSH elevada, bocio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Síndrome de Pendred (SLC26A4) o PAX8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Creatinina, examen de orina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Elevada, proteinuria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BOR, papilorrenal, Alport, WAGR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QTc (ECG)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&gt; 460–500 ms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Jervell y Lange-Nielsen: riesgo de muerte súbita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Secuenciación de GJB2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Dos variantes en trans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DFNB1; riesgo de recurrencia 25 %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Microarreglo cromosómico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Deleción 11p13 con WT1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WAGR: ecografía renal periódica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33  ·  Valores orientativos según edad y laboratorio · Lieu et al. (2020); Korver et al.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CASO CLÍNICO 1 · HIPOACUSIA NEUROSENSORIAL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Recién nacido con tamizaje auditivo alterado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EOA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Ausentes ×2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PEATC (2 meses)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80 dB bilateral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Timpanometría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Tipo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CMV · GJB2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PCR (−) · c.35delG homocigota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11064240" cy="219456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4027" bIns="224027" wrap="square"/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0B1526"/>
                </a:solidFill>
                <a:latin typeface="Arial"/>
              </a:rPr>
              <a:t>Hipoacusia neurosensorial severa bilateral por DFNB1</a:t>
            </a:r>
          </a:p>
          <a:p>
            <a:pPr algn="l"/>
            <a:r>
              <a:rPr sz="1600" b="0" i="0">
                <a:solidFill>
                  <a:srgbClr val="0B1526"/>
                </a:solidFill>
                <a:latin typeface="Arial"/>
              </a:rPr>
              <a:t>Timpanometría tipo A: oído medio normal, origen coclear. La ausencia de conexina 26 altera el reciclaje de K⁺. Padres portadores: riesgo de recurrencia de 25 %. Cóclea normal: candidato a implante coclear antes de los 12 meses.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34  ·  Caso ilustrativo elaborado por el grupo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CASO CLÍNICO 2 · ANIRIDIA ESPORÁDICA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Lactante de 3 meses con aniridia bilateral y nistagmo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E7C86"/>
                </a:solidFill>
                <a:latin typeface="Arial"/>
              </a:rPr>
              <a:t>Clínica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Aniridia bilateral, fotofobia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Sin antecedentes familiares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87451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E7C86"/>
                </a:solidFill>
                <a:latin typeface="Arial"/>
              </a:rPr>
              <a:t>Razonamiento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Caso esporádico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Descartar deleción de 11p13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87451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8D6D0"/>
                </a:solidFill>
                <a:latin typeface="Arial"/>
              </a:rPr>
              <a:t>Prueba indicada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Microarreglo o FISH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La secuenciación de PAX6 no detecta deleciones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Deleción PAX6 + WT1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FF1DC"/>
                </a:solidFill>
                <a:latin typeface="Arial"/>
              </a:rPr>
              <a:t>WAGR: ecografía renal cada 3 meses hasta aproximadamente los 8 años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Variante intragénica en PAX6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E3F6F5"/>
                </a:solidFill>
                <a:latin typeface="Arial"/>
              </a:rPr>
              <a:t>Sin aumento del riesgo de tumor de Wilms · 50 % de transmisión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35  ·  Caso ilustrativo · Lee et al. (2008)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4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DISCUSIÓN · ANÁLISIS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Dosis génica y patrón de herencia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74519"/>
            <a:ext cx="685800" cy="68580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19" y="1874519"/>
            <a:ext cx="685800" cy="685800"/>
          </a:xfrm>
          <a:prstGeom prst="ellipse">
            <a:avLst/>
          </a:prstGeom>
          <a:solidFill>
            <a:srgbClr val="2A4066"/>
          </a:solidFill>
          <a:ln w="25400">
            <a:solidFill>
              <a:srgbClr val="38D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38D6D0"/>
                </a:solidFill>
                <a:latin typeface="Arial"/>
              </a:rPr>
              <a:t>Reguladores del desarrollo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E9EEF5"/>
                </a:solidFill>
                <a:latin typeface="Arial"/>
              </a:rPr>
              <a:t>PAX6, SOX2, OTX2, PAX2, EYA1, CHD7, TCOF1</a:t>
            </a:r>
          </a:p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El 50 % de proteína no alcanza el umbral requerido: herencia dominante por haploinsuficiencia; la malformación está presente al nacer.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874519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0" y="1874519"/>
            <a:ext cx="685800" cy="685800"/>
          </a:xfrm>
          <a:prstGeom prst="ellipse">
            <a:avLst/>
          </a:prstGeom>
          <a:solidFill>
            <a:srgbClr val="2A406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78892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5A623"/>
                </a:solidFill>
                <a:latin typeface="Arial"/>
              </a:rPr>
              <a:t>Proteínas de homeostasis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E9EEF5"/>
                </a:solidFill>
                <a:latin typeface="Arial"/>
              </a:rPr>
              <a:t>GJB2, SLC26A4, OTOF, CYP1B1, genes de Usher</a:t>
            </a:r>
          </a:p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Una copia funcional es suficiente: herencia recesiva; con el órgano formado, son candidatos a terapia génica.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36  ·  Nussbaum et al. (2016); Williamson y FitzPatrick (2014)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1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IMPLICANCIA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Terapia génica en distrofias retinianas y sordera congénita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24027" bIns="224027" wrap="square"/>
          <a:lstStyle/>
          <a:p>
            <a:pPr algn="l">
              <a:spcAft>
                <a:spcPts val="800"/>
              </a:spcAft>
            </a:pPr>
            <a:r>
              <a:rPr sz="5000" b="1" i="0">
                <a:solidFill>
                  <a:srgbClr val="38D6D0"/>
                </a:solidFill>
                <a:latin typeface="Arial"/>
              </a:rPr>
              <a:t>2017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E9EEF5"/>
                </a:solidFill>
                <a:latin typeface="Arial"/>
              </a:rPr>
              <a:t>Retina · RPE65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Voretigén neparvovec (AAV2), fase 3: el 65 % superó la prueba de movilidad a 1 lux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Russell et al., 2017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24027" bIns="224027" wrap="square"/>
          <a:lstStyle/>
          <a:p>
            <a:pPr algn="l">
              <a:spcAft>
                <a:spcPts val="800"/>
              </a:spcAft>
            </a:pPr>
            <a:r>
              <a:rPr sz="5000" b="1" i="0">
                <a:solidFill>
                  <a:srgbClr val="F5A623"/>
                </a:solidFill>
                <a:latin typeface="Arial"/>
              </a:rPr>
              <a:t>2024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E9EEF5"/>
                </a:solidFill>
                <a:latin typeface="Arial"/>
              </a:rPr>
              <a:t>Cóclea · OTOF (DFNB9)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AAV1-hOTOF intracoclear: 5 de 6 niños recuperaron audición (−40 a −57 dB)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Lv et al.,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37  ·  Russell et al. (2017), The Lancet 390; Lv et al. (2024), The Lancet 403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ligh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Conclusiones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01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Ojo y oído se forman entre las semanas 3 y 10 mediante las mismas seis vías de señalización.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A85F00"/>
                </a:solidFill>
                <a:latin typeface="Arial"/>
              </a:rPr>
              <a:t>02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PAX6 dirige el desarrollo ocular; FGF3, PAX2/PAX8, EYA1, ATOH1 y Notch dirigen el auditivo.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39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03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Las malformaciones se originan por haploinsuficiencia, pérdida bialélica o teratógenos en el periodo crítico.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A85F00"/>
                </a:solidFill>
                <a:latin typeface="Arial"/>
              </a:rPr>
              <a:t>04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Tamizaje, serología, pruebas sistémicas y genéticas permiten el diagnóstico etiológico y estimar la recurrencia.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05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La detección antes de los 6 meses y el diagnóstico molecular orientan el manejo y la terapia génica.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38  ·  Desarrollo de la visión y la audición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3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dar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REFERENCIAS ·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Fuentes principales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Barresi, M. J. F., &amp; Gilbert, S. F. (2020). Developmental biology (12.ª ed.). Oxford University Press.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Korver, A. M. H., et al. (2017). Congenital hearing loss. Nature Reviews Disease Primers, 3, 16094.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Lee, H., Khan, R., &amp; O’Keefe, M. (2008). Aniridia: Current pathology and management. Acta Ophthalmologica, 86(7), 708–715.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Lieu, J. E. C., Kenna, M., Anne, S., &amp; Davidson, L. (2020). Hearing loss in children: A review. JAMA, 324(21), 2195–2205.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Lv, J., et al. (2024). AAV1-hOTOF gene therapy for autosomal recessive deafness 9. The Lancet, 403(10441), 2317–2325.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Moore, K. L., Persaud, T. V. N., &amp; Torchia, M. G. (2020). The developing human (11.ª ed.). Elsevier.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Russell, S., et al. (2017). Efficacy and safety of voretigene neparvovec. The Lancet, 390(10097), 849–860.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Sadler, T. W. (2023). Langman’s medical embryology (15.ª ed.). Wolters Kluwer.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Shaham, O., et al. (2012). Pax6: A multi-level regulator of ocular development. Prog. Retin. Eye Res., 31(5), 351–376.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Williamson, K. A., &amp; FitzPatrick, D. R. (2014). The genetic architecture of MAC. Eur. J. Med. Genet., 57(8), 369–380.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World Health Organization. (2019, 2021). World report on vision; World report on hearing.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Wu, D. K., &amp; Kelley, M. W. (2012). Molecular mechanisms of inner ear development. CSH Perspect. Biol., 4(8), a008409.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39  ·  Lista completa (22 fuentes) en la monografía escrita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ndo animado loop_fin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38D6D0"/>
                </a:solidFill>
                <a:latin typeface="Arial"/>
              </a:rPr>
              <a:t>GRACIAS POR SU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E9EEF5"/>
                </a:solidFill>
                <a:latin typeface="Arial"/>
              </a:rPr>
              <a:t>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A9B8CC"/>
                </a:solidFill>
                <a:latin typeface="Arial"/>
              </a:rPr>
              <a:t>Infante · Terrones · Gonzales · Mendoza · Rojas · Guerrero · Zarate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