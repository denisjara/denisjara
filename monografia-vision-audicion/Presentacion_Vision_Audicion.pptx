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para iniciar la animación de portada: se forma el iris (visión) y se propagan las ondas sonoras (audición).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para reproducir el video (37 s). Muestra: evaginación de la vesícula óptica, regionalización (VSX2, MITF, PAX2), inducción del cristalino por BMP4 y FGF, invaginación en copa óptica y vesícula del cristalino,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para reproducir el video (41 s). Corte transversal: inducción de la placoda ótica por FGF3/FGF8, fosita, otocisto y neuroblastos del ganglio estatoacústico. Vista lateral: conducto endolinfático, utrículo y sáculo, formación de los tres conductos semicirculares por fusión de las bolsas y crecimiento del conducto coclear hasta 2,5 vueltas.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para reproducir el video (35 s). Recorrido de la onda sonora por el oído externo, vibración de la membrana timpánica y de los huesecillos, onda viajera en la membrana basilar (tonotopía: agudos en la base, graves en el ápex) y transducción en la célula ciliada interna: apertura de canales MET, ingreso de K+ y liberación de glutamato.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Mecanismos: variantes patogénicas, pérdida de dosis génica (deleción o haploinsuficiencia) y agentes ambientales durante el periodo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6035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Docente: [Nombre del docente]  ·  [Universidad]  ·  Octubre 2026</a:t>
            </a:r>
          </a:p>
        </p:txBody>
      </p:sp>
      <p:sp>
        <p:nvSpPr>
          <p:cNvPr id="6" name="iris"/>
          <p:cNvSpPr/>
          <p:nvPr/>
        </p:nvSpPr>
        <p:spPr>
          <a:xfrm>
            <a:off x="7680960" y="1874519"/>
            <a:ext cx="3108960" cy="3108960"/>
          </a:xfrm>
          <a:prstGeom prst="ellipse">
            <a:avLst/>
          </a:prstGeom>
          <a:solidFill>
            <a:srgbClr val="1F8F8B"/>
          </a:solidFill>
          <a:ln w="3810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iris2"/>
          <p:cNvSpPr/>
          <p:nvPr/>
        </p:nvSpPr>
        <p:spPr>
          <a:xfrm>
            <a:off x="8183879" y="2377440"/>
            <a:ext cx="2103120" cy="2103120"/>
          </a:xfrm>
          <a:prstGeom prst="ellipse">
            <a:avLst/>
          </a:prstGeom>
          <a:solidFill>
            <a:srgbClr val="38D6D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pupila"/>
          <p:cNvSpPr/>
          <p:nvPr/>
        </p:nvSpPr>
        <p:spPr>
          <a:xfrm>
            <a:off x="8686800" y="2880360"/>
            <a:ext cx="1097280" cy="1097280"/>
          </a:xfrm>
          <a:prstGeom prst="ellipse">
            <a:avLst/>
          </a:prstGeom>
          <a:solidFill>
            <a:srgbClr val="05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brillo"/>
          <p:cNvSpPr/>
          <p:nvPr/>
        </p:nvSpPr>
        <p:spPr>
          <a:xfrm>
            <a:off x="8887967" y="3044952"/>
            <a:ext cx="219456" cy="219456"/>
          </a:xfrm>
          <a:prstGeom prst="ellipse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ondaD0"/>
          <p:cNvSpPr/>
          <p:nvPr/>
        </p:nvSpPr>
        <p:spPr>
          <a:xfrm>
            <a:off x="7132320" y="1325880"/>
            <a:ext cx="4206240" cy="4206240"/>
          </a:xfrm>
          <a:prstGeom prst="arc">
            <a:avLst>
              <a:gd name="adj1" fmla="val 18900000"/>
              <a:gd name="adj2" fmla="val 27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ondaI0"/>
          <p:cNvSpPr/>
          <p:nvPr/>
        </p:nvSpPr>
        <p:spPr>
          <a:xfrm>
            <a:off x="7132320" y="1325880"/>
            <a:ext cx="4206240" cy="4206240"/>
          </a:xfrm>
          <a:prstGeom prst="arc">
            <a:avLst>
              <a:gd name="adj1" fmla="val 8100000"/>
              <a:gd name="adj2" fmla="val 135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ondaD1"/>
          <p:cNvSpPr/>
          <p:nvPr/>
        </p:nvSpPr>
        <p:spPr>
          <a:xfrm>
            <a:off x="6720840" y="914400"/>
            <a:ext cx="5029200" cy="5029200"/>
          </a:xfrm>
          <a:prstGeom prst="arc">
            <a:avLst>
              <a:gd name="adj1" fmla="val 18900000"/>
              <a:gd name="adj2" fmla="val 27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ondaI1"/>
          <p:cNvSpPr/>
          <p:nvPr/>
        </p:nvSpPr>
        <p:spPr>
          <a:xfrm>
            <a:off x="6720840" y="914400"/>
            <a:ext cx="5029200" cy="5029200"/>
          </a:xfrm>
          <a:prstGeom prst="arc">
            <a:avLst>
              <a:gd name="adj1" fmla="val 8100000"/>
              <a:gd name="adj2" fmla="val 135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ndaD2"/>
          <p:cNvSpPr/>
          <p:nvPr/>
        </p:nvSpPr>
        <p:spPr>
          <a:xfrm>
            <a:off x="6309359" y="502919"/>
            <a:ext cx="5852160" cy="5852160"/>
          </a:xfrm>
          <a:prstGeom prst="arc">
            <a:avLst>
              <a:gd name="adj1" fmla="val 18900000"/>
              <a:gd name="adj2" fmla="val 27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ondaI2"/>
          <p:cNvSpPr/>
          <p:nvPr/>
        </p:nvSpPr>
        <p:spPr>
          <a:xfrm>
            <a:off x="6309359" y="502919"/>
            <a:ext cx="5852160" cy="5852160"/>
          </a:xfrm>
          <a:prstGeom prst="arc">
            <a:avLst>
              <a:gd name="adj1" fmla="val 8100000"/>
              <a:gd name="adj2" fmla="val 13500000"/>
            </a:avLst>
          </a:prstGeom>
          <a:noFill/>
          <a:ln w="381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7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4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8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A9B8CC"/>
                </a:solidFill>
                <a:latin typeface="Arial"/>
              </a:rPr>
              <a:t>Monografía</a:t>
            </a:r>
          </a:p>
          <a:p>
            <a:pPr algn="l"/>
            <a:r>
              <a:rPr sz="2200" b="1" i="0">
                <a:solidFill>
                  <a:srgbClr val="38D6D0"/>
                </a:solidFill>
                <a:latin typeface="Arial"/>
              </a:rPr>
              <a:t>BMG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02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03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04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05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06  ·  Barresi y Gilbert (2020); Groves y Fekete (2012)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1143000"/>
            <a:ext cx="4206240" cy="4206240"/>
          </a:xfrm>
          <a:prstGeom prst="ellipse">
            <a:avLst/>
          </a:prstGeom>
          <a:solidFill>
            <a:srgbClr val="1F8F8B"/>
          </a:solidFill>
          <a:ln w="3810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21040" y="1874519"/>
            <a:ext cx="2743200" cy="2743200"/>
          </a:xfrm>
          <a:prstGeom prst="ellipse">
            <a:avLst/>
          </a:prstGeom>
          <a:solidFill>
            <a:srgbClr val="38D6D0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0" y="2514600"/>
            <a:ext cx="1463040" cy="1463040"/>
          </a:xfrm>
          <a:prstGeom prst="ellipse">
            <a:avLst/>
          </a:prstGeom>
          <a:solidFill>
            <a:srgbClr val="05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89720" y="2697480"/>
            <a:ext cx="292608" cy="292608"/>
          </a:xfrm>
          <a:prstGeom prst="ellipse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8" name="Oval 7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0" name="Oval 9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2" name="Oval 11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4" name="Oval 13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08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MORFOGÉNESIS OCULAR ·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Formación del ojo: de la vesícula óptica a la copa óptica</a:t>
            </a:r>
          </a:p>
        </p:txBody>
      </p:sp>
      <p:pic>
        <p:nvPicPr>
          <p:cNvPr id="4" name="Video video_oj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92807" y="1481328"/>
            <a:ext cx="8412480" cy="4732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09  ·  Animación esquemática elaborada por el grupo ·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7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10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11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5943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  <p:sp>
        <p:nvSpPr>
          <p:cNvPr id="5" name="Arc 4"/>
          <p:cNvSpPr/>
          <p:nvPr/>
        </p:nvSpPr>
        <p:spPr>
          <a:xfrm>
            <a:off x="9363456" y="3099816"/>
            <a:ext cx="658368" cy="658368"/>
          </a:xfrm>
          <a:prstGeom prst="arc">
            <a:avLst>
              <a:gd name="adj1" fmla="val 10800000"/>
              <a:gd name="adj2" fmla="val 0"/>
            </a:avLst>
          </a:prstGeom>
          <a:noFill/>
          <a:ln w="1143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Arc 5"/>
          <p:cNvSpPr/>
          <p:nvPr/>
        </p:nvSpPr>
        <p:spPr>
          <a:xfrm>
            <a:off x="8705088" y="2770632"/>
            <a:ext cx="1316736" cy="1316736"/>
          </a:xfrm>
          <a:prstGeom prst="arc">
            <a:avLst>
              <a:gd name="adj1" fmla="val 0"/>
              <a:gd name="adj2" fmla="val 10800000"/>
            </a:avLst>
          </a:prstGeom>
          <a:noFill/>
          <a:ln w="1143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8705088" y="2441448"/>
            <a:ext cx="1975104" cy="1975104"/>
          </a:xfrm>
          <a:prstGeom prst="arc">
            <a:avLst>
              <a:gd name="adj1" fmla="val 10800000"/>
              <a:gd name="adj2" fmla="val 0"/>
            </a:avLst>
          </a:prstGeom>
          <a:noFill/>
          <a:ln w="1143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Arc 7"/>
          <p:cNvSpPr/>
          <p:nvPr/>
        </p:nvSpPr>
        <p:spPr>
          <a:xfrm>
            <a:off x="8046720" y="2112264"/>
            <a:ext cx="2633472" cy="2633472"/>
          </a:xfrm>
          <a:prstGeom prst="arc">
            <a:avLst>
              <a:gd name="adj1" fmla="val 0"/>
              <a:gd name="adj2" fmla="val 10800000"/>
            </a:avLst>
          </a:prstGeom>
          <a:noFill/>
          <a:ln w="1143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Arc 8"/>
          <p:cNvSpPr/>
          <p:nvPr/>
        </p:nvSpPr>
        <p:spPr>
          <a:xfrm>
            <a:off x="8046720" y="1783080"/>
            <a:ext cx="3291839" cy="3291839"/>
          </a:xfrm>
          <a:prstGeom prst="arc">
            <a:avLst>
              <a:gd name="adj1" fmla="val 10800000"/>
              <a:gd name="adj2" fmla="val 0"/>
            </a:avLst>
          </a:prstGeom>
          <a:noFill/>
          <a:ln w="1143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7388352" y="1453895"/>
            <a:ext cx="3950208" cy="3950208"/>
          </a:xfrm>
          <a:prstGeom prst="arc">
            <a:avLst>
              <a:gd name="adj1" fmla="val 0"/>
              <a:gd name="adj2" fmla="val 10800000"/>
            </a:avLst>
          </a:prstGeom>
          <a:noFill/>
          <a:ln w="1143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3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13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3" grpId="1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MORFOGÉNESIS DEL OÍDO INTERNO ·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Formación del oído interno: de la placoda ótica a la cóclea</a:t>
            </a:r>
          </a:p>
        </p:txBody>
      </p:sp>
      <p:pic>
        <p:nvPicPr>
          <p:cNvPr id="4" name="Video video_o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92807" y="1481328"/>
            <a:ext cx="8412480" cy="4732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Animación esquemática elaborada por el grupo · Groves y Fekete (2012);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4" name="Hexagon 13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15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7" grpId="0" animBg="1"/>
      <p:bldP spid="20" grpId="0" animBg="1"/>
      <p:bldP spid="23" grpId="0" animBg="1"/>
      <p:bldP spid="26" grpId="0" animBg="1"/>
      <p:bldP spid="30" grpId="0" animBg="1"/>
      <p:bldP spid="33" grpId="0" animBg="1"/>
      <p:bldP spid="36" grpId="0" animBg="1"/>
      <p:bldP spid="39" grpId="0" animBg="1"/>
      <p:bldP spid="43" grpId="0" animBg="1"/>
      <p:bldP spid="46" grpId="0" animBg="1"/>
      <p:bldP spid="49" grpId="0" animBg="1"/>
      <p:bldP spid="52" grpId="0" animBg="1"/>
      <p:bldP spid="55" grpId="0" animBg="1"/>
      <p:bldP spid="56" grpId="0" animBg="1"/>
      <p:bldP spid="57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4" grpId="0" animBg="1"/>
      <p:bldP spid="45" grpId="0" animBg="1"/>
      <p:bldP spid="47" grpId="0" animBg="1"/>
      <p:bldP spid="48" grpId="0" animBg="1"/>
      <p:bldP spid="50" grpId="0" animBg="1"/>
      <p:bldP spid="51" grpId="0" animBg="1"/>
      <p:bldP spid="53" grpId="0" animBg="1"/>
      <p:bldP spid="54" grpId="0" animBg="1"/>
      <p:bldP spid="58" grpId="0" animBg="1"/>
      <p:bldP spid="59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Left Arrow 10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13" grpId="0" animBg="1"/>
      <p:bldP spid="13" grpId="1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FISIOLOGÍA AUDITIVA · VIDEO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Transmisión y transducción del sonido</a:t>
            </a:r>
          </a:p>
        </p:txBody>
      </p:sp>
      <p:pic>
        <p:nvPicPr>
          <p:cNvPr id="4" name="Video video_sonid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92807" y="1481328"/>
            <a:ext cx="8412480" cy="47320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17  ·  Animación esquemática elaborada por el grupo · Wu y Kelley (2012);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A6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0B1526"/>
                </a:solidFill>
                <a:latin typeface="Arial"/>
              </a:rPr>
              <a:t>PARTE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0B1526"/>
                </a:solidFill>
                <a:latin typeface="Arial"/>
              </a:rPr>
              <a:t>Malformaciones congénitas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B1526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20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21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4" grpId="0" animBg="1"/>
      <p:bldP spid="15" grpId="0" animBg="1"/>
      <p:bldP spid="18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22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6" name="Rectangle 5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23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24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8D6D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0B1526"/>
                </a:solidFill>
                <a:latin typeface="Arial"/>
              </a:rPr>
              <a:t>PARTE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0B1526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B1526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26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7" name="Oval 6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31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32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33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9748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